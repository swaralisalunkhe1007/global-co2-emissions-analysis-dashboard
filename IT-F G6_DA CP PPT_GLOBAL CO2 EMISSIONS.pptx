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9"/>
  </p:notesMasterIdLst>
  <p:sldIdLst>
    <p:sldId id="256" r:id="rId2"/>
    <p:sldId id="257" r:id="rId3"/>
    <p:sldId id="258" r:id="rId4"/>
    <p:sldId id="264" r:id="rId5"/>
    <p:sldId id="261" r:id="rId6"/>
    <p:sldId id="262" r:id="rId7"/>
    <p:sldId id="263" r:id="rId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5" roundtripDataSignature="AMtx7mitvYRg36xh3j79XUZOYqK9vtMmw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DA98C0A-B43E-4C9A-82D8-5541FEFA031A}">
  <a:tblStyle styleId="{DDA98C0A-B43E-4C9A-82D8-5541FEFA031A}" styleName="Table_0">
    <a:wholeTbl>
      <a:tcTxStyle b="off" i="off">
        <a:font>
          <a:latin typeface="Arial"/>
          <a:ea typeface="Arial"/>
          <a:cs typeface="Aria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Arial"/>
          <a:ea typeface="Arial"/>
          <a:cs typeface="Arial"/>
        </a:font>
        <a:schemeClr val="lt1"/>
      </a:tcTxStyle>
      <a:tcStyle>
        <a:tcBdr/>
        <a:fill>
          <a:solidFill>
            <a:schemeClr val="accent1"/>
          </a:solidFill>
        </a:fill>
      </a:tcStyle>
    </a:lastCol>
    <a:firstCol>
      <a:tcTxStyle b="on" i="off">
        <a:font>
          <a:latin typeface="Arial"/>
          <a:ea typeface="Arial"/>
          <a:cs typeface="Arial"/>
        </a:font>
        <a:schemeClr val="lt1"/>
      </a:tcTxStyle>
      <a:tcStyle>
        <a:tcBdr/>
        <a:fill>
          <a:solidFill>
            <a:schemeClr val="accent1"/>
          </a:solidFill>
        </a:fill>
      </a:tcStyle>
    </a:firstCol>
    <a:lastRow>
      <a:tcTxStyle b="on" i="off">
        <a:font>
          <a:latin typeface="Arial"/>
          <a:ea typeface="Arial"/>
          <a:cs typeface="Aria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rial"/>
          <a:ea typeface="Arial"/>
          <a:cs typeface="Aria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142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5" Type="http://customschemas.google.com/relationships/presentationmetadata" Target="meta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 name="Google Shape;97;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 name="Google Shape;137;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7" name="Google Shape;157;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8" name="Google Shape;18;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1/20/2025</a:t>
            </a:r>
            <a:endParaRPr/>
          </a:p>
        </p:txBody>
      </p:sp>
      <p:sp>
        <p:nvSpPr>
          <p:cNvPr id="19" name="Google Shape;19;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Name of Project(Data Analysis)</a:t>
            </a:r>
            <a:endParaRPr/>
          </a:p>
        </p:txBody>
      </p:sp>
      <p:sp>
        <p:nvSpPr>
          <p:cNvPr id="20" name="Google Shape;20;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4" name="Google Shape;24;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1/20/2025</a:t>
            </a:r>
            <a:endParaRPr/>
          </a:p>
        </p:txBody>
      </p:sp>
      <p:sp>
        <p:nvSpPr>
          <p:cNvPr id="25" name="Google Shape;25;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Name of Project(Data Analysis)</a:t>
            </a:r>
            <a:endParaRPr/>
          </a:p>
        </p:txBody>
      </p:sp>
      <p:sp>
        <p:nvSpPr>
          <p:cNvPr id="26" name="Google Shape;26;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30" name="Google Shape;30;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1/20/2025</a:t>
            </a:r>
            <a:endParaRPr/>
          </a:p>
        </p:txBody>
      </p:sp>
      <p:sp>
        <p:nvSpPr>
          <p:cNvPr id="31" name="Google Shape;31;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Name of Project(Data Analysis)</a:t>
            </a:r>
            <a:endParaRPr/>
          </a:p>
        </p:txBody>
      </p:sp>
      <p:sp>
        <p:nvSpPr>
          <p:cNvPr id="32" name="Google Shape;32;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1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6" name="Google Shape;36;p1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37" name="Google Shape;37;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1/20/2025</a:t>
            </a:r>
            <a:endParaRPr/>
          </a:p>
        </p:txBody>
      </p:sp>
      <p:sp>
        <p:nvSpPr>
          <p:cNvPr id="38" name="Google Shape;38;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Name of Project(Data Analysis)</a:t>
            </a:r>
            <a:endParaRPr/>
          </a:p>
        </p:txBody>
      </p:sp>
      <p:sp>
        <p:nvSpPr>
          <p:cNvPr id="39" name="Google Shape;39;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5" name="Google Shape;45;p1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6" name="Google Shape;46;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1/20/2025</a:t>
            </a:r>
            <a:endParaRPr/>
          </a:p>
        </p:txBody>
      </p:sp>
      <p:sp>
        <p:nvSpPr>
          <p:cNvPr id="47" name="Google Shape;47;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Name of Project(Data Analysis)</a:t>
            </a:r>
            <a:endParaRPr/>
          </a:p>
        </p:txBody>
      </p:sp>
      <p:sp>
        <p:nvSpPr>
          <p:cNvPr id="48" name="Google Shape;48;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1/20/2025</a:t>
            </a:r>
            <a:endParaRPr/>
          </a:p>
        </p:txBody>
      </p:sp>
      <p:sp>
        <p:nvSpPr>
          <p:cNvPr id="52" name="Google Shape;52;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Name of Project(Data Analysis)</a:t>
            </a:r>
            <a:endParaRPr/>
          </a:p>
        </p:txBody>
      </p:sp>
      <p:sp>
        <p:nvSpPr>
          <p:cNvPr id="53" name="Google Shape;53;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1/20/2025</a:t>
            </a:r>
            <a:endParaRPr/>
          </a:p>
        </p:txBody>
      </p:sp>
      <p:sp>
        <p:nvSpPr>
          <p:cNvPr id="56" name="Google Shape;56;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Name of Project(Data Analysis)</a:t>
            </a:r>
            <a:endParaRPr/>
          </a:p>
        </p:txBody>
      </p:sp>
      <p:sp>
        <p:nvSpPr>
          <p:cNvPr id="57" name="Google Shape;57;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7"/>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7"/>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17"/>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1/20/2025</a:t>
            </a:r>
            <a:endParaRPr/>
          </a:p>
        </p:txBody>
      </p:sp>
      <p:sp>
        <p:nvSpPr>
          <p:cNvPr id="63" name="Google Shape;63;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Name of Project(Data Analysis)</a:t>
            </a:r>
            <a:endParaRPr/>
          </a:p>
        </p:txBody>
      </p:sp>
      <p:sp>
        <p:nvSpPr>
          <p:cNvPr id="64" name="Google Shape;64;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8"/>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8"/>
          <p:cNvSpPr>
            <a:spLocks noGrp="1"/>
          </p:cNvSpPr>
          <p:nvPr>
            <p:ph type="pic" idx="2"/>
          </p:nvPr>
        </p:nvSpPr>
        <p:spPr>
          <a:xfrm>
            <a:off x="1792288" y="612775"/>
            <a:ext cx="5486400" cy="4114800"/>
          </a:xfrm>
          <a:prstGeom prst="rect">
            <a:avLst/>
          </a:prstGeom>
          <a:noFill/>
          <a:ln>
            <a:noFill/>
          </a:ln>
        </p:spPr>
      </p:sp>
      <p:sp>
        <p:nvSpPr>
          <p:cNvPr id="68" name="Google Shape;68;p18"/>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1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1/20/2025</a:t>
            </a:r>
            <a:endParaRPr/>
          </a:p>
        </p:txBody>
      </p:sp>
      <p:sp>
        <p:nvSpPr>
          <p:cNvPr id="70" name="Google Shape;70;p1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Name of Project(Data Analysis)</a:t>
            </a:r>
            <a:endParaRPr/>
          </a:p>
        </p:txBody>
      </p:sp>
      <p:sp>
        <p:nvSpPr>
          <p:cNvPr id="71" name="Google Shape;71;p1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9"/>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1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1/20/2025</a:t>
            </a:r>
            <a:endParaRPr/>
          </a:p>
        </p:txBody>
      </p:sp>
      <p:sp>
        <p:nvSpPr>
          <p:cNvPr id="76" name="Google Shape;76;p1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Name of Project(Data Analysis)</a:t>
            </a:r>
            <a:endParaRPr/>
          </a:p>
        </p:txBody>
      </p:sp>
      <p:sp>
        <p:nvSpPr>
          <p:cNvPr id="77" name="Google Shape;77;p1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0"/>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20"/>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2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1/20/2025</a:t>
            </a:r>
            <a:endParaRPr/>
          </a:p>
        </p:txBody>
      </p:sp>
      <p:sp>
        <p:nvSpPr>
          <p:cNvPr id="82" name="Google Shape;82;p2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r>
              <a:rPr lang="en-US"/>
              <a:t>Name of Project(Data Analysis)</a:t>
            </a:r>
            <a:endParaRPr/>
          </a:p>
        </p:txBody>
      </p:sp>
      <p:sp>
        <p:nvSpPr>
          <p:cNvPr id="83" name="Google Shape;83;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a:t>1/20/2025</a:t>
            </a:r>
            <a:endParaRPr/>
          </a:p>
        </p:txBody>
      </p:sp>
      <p:sp>
        <p:nvSpPr>
          <p:cNvPr id="13" name="Google Shape;1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a:t>Name of Project(Data Analysis)</a:t>
            </a:r>
            <a:endParaRPr/>
          </a:p>
        </p:txBody>
      </p:sp>
      <p:sp>
        <p:nvSpPr>
          <p:cNvPr id="14" name="Google Shape;1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694592" y="1922584"/>
            <a:ext cx="7772400" cy="806206"/>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3200" dirty="0">
                <a:latin typeface="Times New Roman"/>
                <a:ea typeface="Times New Roman"/>
                <a:cs typeface="Times New Roman"/>
                <a:sym typeface="Times New Roman"/>
              </a:rPr>
              <a:t>Global CO₂ Emissions Analysis</a:t>
            </a:r>
            <a:endParaRPr sz="3200" dirty="0">
              <a:latin typeface="Times New Roman"/>
              <a:ea typeface="Times New Roman"/>
              <a:cs typeface="Times New Roman"/>
              <a:sym typeface="Times New Roman"/>
            </a:endParaRPr>
          </a:p>
        </p:txBody>
      </p:sp>
      <p:sp>
        <p:nvSpPr>
          <p:cNvPr id="89" name="Google Shape;89;p1"/>
          <p:cNvSpPr txBox="1">
            <a:spLocks noGrp="1"/>
          </p:cNvSpPr>
          <p:nvPr>
            <p:ph type="subTitle" idx="1"/>
          </p:nvPr>
        </p:nvSpPr>
        <p:spPr>
          <a:xfrm>
            <a:off x="1406769" y="5178669"/>
            <a:ext cx="6400800" cy="580293"/>
          </a:xfrm>
          <a:prstGeom prst="rect">
            <a:avLst/>
          </a:prstGeom>
          <a:noFill/>
          <a:ln>
            <a:noFill/>
          </a:ln>
        </p:spPr>
        <p:txBody>
          <a:bodyPr spcFirstLastPara="1" wrap="square" lIns="91425" tIns="45700" rIns="91425" bIns="45700" anchor="t" anchorCtr="0">
            <a:noAutofit/>
          </a:bodyPr>
          <a:lstStyle/>
          <a:p>
            <a:pPr marL="0" lvl="0" indent="0" algn="ctr" rtl="0">
              <a:lnSpc>
                <a:spcPct val="100000"/>
              </a:lnSpc>
              <a:spcBef>
                <a:spcPts val="352"/>
              </a:spcBef>
              <a:spcAft>
                <a:spcPts val="0"/>
              </a:spcAft>
              <a:buClr>
                <a:srgbClr val="888888"/>
              </a:buClr>
              <a:buSzPts val="1800"/>
              <a:buNone/>
            </a:pPr>
            <a:r>
              <a:rPr lang="en-US" sz="1800" b="1" dirty="0">
                <a:solidFill>
                  <a:schemeClr val="dk1"/>
                </a:solidFill>
                <a:latin typeface="Times New Roman"/>
                <a:ea typeface="Times New Roman"/>
                <a:cs typeface="Times New Roman"/>
                <a:sym typeface="Times New Roman"/>
              </a:rPr>
              <a:t>Class: IT         Division: F         Batch: 2025-26</a:t>
            </a:r>
            <a:endParaRPr dirty="0"/>
          </a:p>
          <a:p>
            <a:pPr marL="0" lvl="0" indent="0" algn="ctr" rtl="0">
              <a:lnSpc>
                <a:spcPct val="100000"/>
              </a:lnSpc>
              <a:spcBef>
                <a:spcPts val="352"/>
              </a:spcBef>
              <a:spcAft>
                <a:spcPts val="0"/>
              </a:spcAft>
              <a:buClr>
                <a:srgbClr val="888888"/>
              </a:buClr>
              <a:buSzPts val="1800"/>
              <a:buNone/>
            </a:pPr>
            <a:endParaRPr sz="1800" b="1" dirty="0">
              <a:solidFill>
                <a:schemeClr val="dk1"/>
              </a:solidFill>
              <a:latin typeface="Times New Roman"/>
              <a:ea typeface="Times New Roman"/>
              <a:cs typeface="Times New Roman"/>
              <a:sym typeface="Times New Roman"/>
            </a:endParaRPr>
          </a:p>
          <a:p>
            <a:pPr marL="0" lvl="0" indent="0" algn="ctr" rtl="0">
              <a:lnSpc>
                <a:spcPct val="100000"/>
              </a:lnSpc>
              <a:spcBef>
                <a:spcPts val="352"/>
              </a:spcBef>
              <a:spcAft>
                <a:spcPts val="0"/>
              </a:spcAft>
              <a:buClr>
                <a:srgbClr val="888888"/>
              </a:buClr>
              <a:buSzPts val="1800"/>
              <a:buNone/>
            </a:pPr>
            <a:r>
              <a:rPr lang="en-US" sz="1800" b="1" dirty="0">
                <a:solidFill>
                  <a:schemeClr val="dk1"/>
                </a:solidFill>
                <a:latin typeface="Times New Roman"/>
                <a:ea typeface="Times New Roman"/>
                <a:cs typeface="Times New Roman"/>
                <a:sym typeface="Times New Roman"/>
              </a:rPr>
              <a:t>Project Guide: Prof. Renuka Vaidya</a:t>
            </a:r>
            <a:endParaRPr sz="1800" dirty="0">
              <a:solidFill>
                <a:schemeClr val="dk1"/>
              </a:solidFill>
              <a:latin typeface="Times New Roman"/>
              <a:ea typeface="Times New Roman"/>
              <a:cs typeface="Times New Roman"/>
              <a:sym typeface="Times New Roman"/>
            </a:endParaRPr>
          </a:p>
        </p:txBody>
      </p:sp>
      <p:sp>
        <p:nvSpPr>
          <p:cNvPr id="90" name="Google Shape;90;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1/20/2025</a:t>
            </a:r>
            <a:endParaRPr dirty="0"/>
          </a:p>
        </p:txBody>
      </p:sp>
      <p:sp>
        <p:nvSpPr>
          <p:cNvPr id="91" name="Google Shape;91;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1</a:t>
            </a:fld>
            <a:endParaRPr/>
          </a:p>
        </p:txBody>
      </p:sp>
      <p:sp>
        <p:nvSpPr>
          <p:cNvPr id="92" name="Google Shape;92;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dirty="0"/>
              <a:t>Global CO2 Emissions Analysis (Data Analysis)</a:t>
            </a:r>
            <a:endParaRPr dirty="0"/>
          </a:p>
        </p:txBody>
      </p:sp>
      <p:graphicFrame>
        <p:nvGraphicFramePr>
          <p:cNvPr id="93" name="Google Shape;93;p1"/>
          <p:cNvGraphicFramePr/>
          <p:nvPr>
            <p:extLst>
              <p:ext uri="{D42A27DB-BD31-4B8C-83A1-F6EECF244321}">
                <p14:modId xmlns:p14="http://schemas.microsoft.com/office/powerpoint/2010/main" val="3816114119"/>
              </p:ext>
            </p:extLst>
          </p:nvPr>
        </p:nvGraphicFramePr>
        <p:xfrm>
          <a:off x="1011115" y="2708032"/>
          <a:ext cx="6726500" cy="2339457"/>
        </p:xfrm>
        <a:graphic>
          <a:graphicData uri="http://schemas.openxmlformats.org/drawingml/2006/table">
            <a:tbl>
              <a:tblPr firstRow="1" firstCol="1" bandRow="1">
                <a:noFill/>
                <a:tableStyleId>{DDA98C0A-B43E-4C9A-82D8-5541FEFA031A}</a:tableStyleId>
              </a:tblPr>
              <a:tblGrid>
                <a:gridCol w="756150">
                  <a:extLst>
                    <a:ext uri="{9D8B030D-6E8A-4147-A177-3AD203B41FA5}">
                      <a16:colId xmlns:a16="http://schemas.microsoft.com/office/drawing/2014/main" val="20000"/>
                    </a:ext>
                  </a:extLst>
                </a:gridCol>
                <a:gridCol w="839500">
                  <a:extLst>
                    <a:ext uri="{9D8B030D-6E8A-4147-A177-3AD203B41FA5}">
                      <a16:colId xmlns:a16="http://schemas.microsoft.com/office/drawing/2014/main" val="20001"/>
                    </a:ext>
                  </a:extLst>
                </a:gridCol>
                <a:gridCol w="1782875">
                  <a:extLst>
                    <a:ext uri="{9D8B030D-6E8A-4147-A177-3AD203B41FA5}">
                      <a16:colId xmlns:a16="http://schemas.microsoft.com/office/drawing/2014/main" val="20002"/>
                    </a:ext>
                  </a:extLst>
                </a:gridCol>
                <a:gridCol w="1099025">
                  <a:extLst>
                    <a:ext uri="{9D8B030D-6E8A-4147-A177-3AD203B41FA5}">
                      <a16:colId xmlns:a16="http://schemas.microsoft.com/office/drawing/2014/main" val="20003"/>
                    </a:ext>
                  </a:extLst>
                </a:gridCol>
                <a:gridCol w="2248950">
                  <a:extLst>
                    <a:ext uri="{9D8B030D-6E8A-4147-A177-3AD203B41FA5}">
                      <a16:colId xmlns:a16="http://schemas.microsoft.com/office/drawing/2014/main" val="20004"/>
                    </a:ext>
                  </a:extLst>
                </a:gridCol>
              </a:tblGrid>
              <a:tr h="443132">
                <a:tc>
                  <a:txBody>
                    <a:bodyPr/>
                    <a:lstStyle/>
                    <a:p>
                      <a:pPr marL="61595" marR="119379" lvl="0" indent="0" algn="ctr" rtl="0">
                        <a:lnSpc>
                          <a:spcPct val="125000"/>
                        </a:lnSpc>
                        <a:spcBef>
                          <a:spcPts val="0"/>
                        </a:spcBef>
                        <a:spcAft>
                          <a:spcPts val="0"/>
                        </a:spcAft>
                        <a:buNone/>
                      </a:pPr>
                      <a:r>
                        <a:rPr lang="en-US" sz="1000" u="none" strike="noStrike" cap="none">
                          <a:latin typeface="Times New Roman"/>
                          <a:ea typeface="Times New Roman"/>
                          <a:cs typeface="Times New Roman"/>
                          <a:sym typeface="Times New Roman"/>
                        </a:rPr>
                        <a:t>Roll No.</a:t>
                      </a:r>
                      <a:endParaRPr sz="1100" u="none" strike="noStrike" cap="none">
                        <a:latin typeface="Times New Roman"/>
                        <a:ea typeface="Times New Roman"/>
                        <a:cs typeface="Times New Roman"/>
                        <a:sym typeface="Times New Roman"/>
                      </a:endParaRPr>
                    </a:p>
                  </a:txBody>
                  <a:tcPr marL="0" marR="0" marT="0" marB="0" anchor="ctr"/>
                </a:tc>
                <a:tc>
                  <a:txBody>
                    <a:bodyPr/>
                    <a:lstStyle/>
                    <a:p>
                      <a:pPr marL="61595" marR="0" lvl="0" indent="0" algn="ctr"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PRN</a:t>
                      </a:r>
                      <a:endParaRPr sz="1100" u="none" strike="noStrike" cap="none">
                        <a:latin typeface="Times New Roman"/>
                        <a:ea typeface="Times New Roman"/>
                        <a:cs typeface="Times New Roman"/>
                        <a:sym typeface="Times New Roman"/>
                      </a:endParaRPr>
                    </a:p>
                  </a:txBody>
                  <a:tcPr marL="0" marR="0" marT="0" marB="0" anchor="ctr"/>
                </a:tc>
                <a:tc>
                  <a:txBody>
                    <a:bodyPr/>
                    <a:lstStyle/>
                    <a:p>
                      <a:pPr marL="61595" marR="0" lvl="0" indent="0" algn="ctr"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Name of Student</a:t>
                      </a:r>
                      <a:endParaRPr sz="1100" u="none" strike="noStrike" cap="none">
                        <a:latin typeface="Times New Roman"/>
                        <a:ea typeface="Times New Roman"/>
                        <a:cs typeface="Times New Roman"/>
                        <a:sym typeface="Times New Roman"/>
                      </a:endParaRPr>
                    </a:p>
                  </a:txBody>
                  <a:tcPr marL="0" marR="0" marT="0" marB="0" anchor="ctr"/>
                </a:tc>
                <a:tc>
                  <a:txBody>
                    <a:bodyPr/>
                    <a:lstStyle/>
                    <a:p>
                      <a:pPr marL="61595" marR="0" lvl="0" indent="0" algn="ctr"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Contact No.</a:t>
                      </a:r>
                      <a:endParaRPr sz="1100" u="none" strike="noStrike" cap="none">
                        <a:latin typeface="Times New Roman"/>
                        <a:ea typeface="Times New Roman"/>
                        <a:cs typeface="Times New Roman"/>
                        <a:sym typeface="Times New Roman"/>
                      </a:endParaRPr>
                    </a:p>
                  </a:txBody>
                  <a:tcPr marL="0" marR="0" marT="0" marB="0" anchor="ctr"/>
                </a:tc>
                <a:tc>
                  <a:txBody>
                    <a:bodyPr/>
                    <a:lstStyle/>
                    <a:p>
                      <a:pPr marL="61595" marR="0" lvl="0" indent="0" algn="ctr"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Email ID</a:t>
                      </a:r>
                      <a:endParaRPr sz="1100" u="none" strike="noStrike" cap="none">
                        <a:latin typeface="Times New Roman"/>
                        <a:ea typeface="Times New Roman"/>
                        <a:cs typeface="Times New Roman"/>
                        <a:sym typeface="Times New Roman"/>
                      </a:endParaRPr>
                    </a:p>
                  </a:txBody>
                  <a:tcPr marL="0" marR="0" marT="0" marB="0" anchor="ctr"/>
                </a:tc>
                <a:extLst>
                  <a:ext uri="{0D108BD9-81ED-4DB2-BD59-A6C34878D82A}">
                    <a16:rowId xmlns:a16="http://schemas.microsoft.com/office/drawing/2014/main" val="10000"/>
                  </a:ext>
                </a:extLst>
              </a:tr>
              <a:tr h="306792">
                <a:tc>
                  <a:txBody>
                    <a:bodyPr/>
                    <a:lstStyle/>
                    <a:p>
                      <a:pPr marL="61595" marR="0" lvl="0" indent="0" algn="ctr"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23</a:t>
                      </a:r>
                      <a:endParaRPr sz="1000" u="none" strike="noStrike" cap="none">
                        <a:latin typeface="Times New Roman"/>
                      </a:endParaRPr>
                    </a:p>
                  </a:txBody>
                  <a:tcPr marL="0" marR="0" marT="0" marB="0" anchor="ctr"/>
                </a:tc>
                <a:tc>
                  <a:txBody>
                    <a:bodyPr/>
                    <a:lstStyle/>
                    <a:p>
                      <a:pPr marL="61595" marR="0" lvl="0" indent="0" algn="ctr"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1251130298</a:t>
                      </a:r>
                      <a:endParaRPr sz="1000" u="none" strike="noStrike" cap="none">
                        <a:latin typeface="Times New Roman"/>
                      </a:endParaRPr>
                    </a:p>
                  </a:txBody>
                  <a:tcPr marL="0" marR="0" marT="0" marB="0" anchor="ctr"/>
                </a:tc>
                <a:tc>
                  <a:txBody>
                    <a:bodyPr/>
                    <a:lstStyle/>
                    <a:p>
                      <a:pPr marL="61595" marR="0" lvl="0" indent="0" algn="l"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Yash Suvarnkar</a:t>
                      </a:r>
                      <a:endParaRPr sz="1000" u="none" strike="noStrike" cap="none">
                        <a:latin typeface="Times New Roman"/>
                      </a:endParaRPr>
                    </a:p>
                  </a:txBody>
                  <a:tcPr marL="0" marR="0" marT="0" marB="0" anchor="ctr"/>
                </a:tc>
                <a:tc>
                  <a:txBody>
                    <a:bodyPr/>
                    <a:lstStyle/>
                    <a:p>
                      <a:pPr marL="61595" marR="0" lvl="0" indent="0" algn="ctr"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7038021322</a:t>
                      </a:r>
                      <a:endParaRPr sz="1000" u="none" strike="noStrike" cap="none">
                        <a:latin typeface="Times New Roman"/>
                      </a:endParaRPr>
                    </a:p>
                  </a:txBody>
                  <a:tcPr marL="0" marR="0" marT="0" marB="0" anchor="ctr"/>
                </a:tc>
                <a:tc>
                  <a:txBody>
                    <a:bodyPr/>
                    <a:lstStyle/>
                    <a:p>
                      <a:pPr marL="61595" marR="0" lvl="0" indent="0" algn="l"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yash.1251130298@vit.edu</a:t>
                      </a:r>
                      <a:endParaRPr sz="1000" u="none" strike="noStrike" cap="none">
                        <a:latin typeface="Times New Roman"/>
                      </a:endParaRPr>
                    </a:p>
                  </a:txBody>
                  <a:tcPr marL="0" marR="0" marT="0" marB="0" anchor="ctr"/>
                </a:tc>
                <a:extLst>
                  <a:ext uri="{0D108BD9-81ED-4DB2-BD59-A6C34878D82A}">
                    <a16:rowId xmlns:a16="http://schemas.microsoft.com/office/drawing/2014/main" val="10001"/>
                  </a:ext>
                </a:extLst>
              </a:tr>
              <a:tr h="306792">
                <a:tc>
                  <a:txBody>
                    <a:bodyPr/>
                    <a:lstStyle/>
                    <a:p>
                      <a:pPr marL="61595" marR="0" lvl="0" indent="0" algn="ctr"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24</a:t>
                      </a:r>
                      <a:endParaRPr sz="1000" u="none" strike="noStrike" cap="none">
                        <a:latin typeface="Times New Roman"/>
                      </a:endParaRPr>
                    </a:p>
                  </a:txBody>
                  <a:tcPr marL="0" marR="0" marT="0" marB="0" anchor="ctr"/>
                </a:tc>
                <a:tc>
                  <a:txBody>
                    <a:bodyPr/>
                    <a:lstStyle/>
                    <a:p>
                      <a:pPr marL="61595" marR="0" lvl="0" indent="0" algn="ctr"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1251130207</a:t>
                      </a:r>
                      <a:endParaRPr sz="1000" u="none" strike="noStrike" cap="none">
                        <a:latin typeface="Times New Roman"/>
                      </a:endParaRPr>
                    </a:p>
                  </a:txBody>
                  <a:tcPr marL="0" marR="0" marT="0" marB="0" anchor="ctr"/>
                </a:tc>
                <a:tc>
                  <a:txBody>
                    <a:bodyPr/>
                    <a:lstStyle/>
                    <a:p>
                      <a:pPr marL="61595" marR="0" lvl="0" indent="0" algn="l"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Swarali Salunkhe</a:t>
                      </a:r>
                      <a:endParaRPr sz="1000" u="none" strike="noStrike" cap="none">
                        <a:latin typeface="Times New Roman"/>
                      </a:endParaRPr>
                    </a:p>
                  </a:txBody>
                  <a:tcPr marL="0" marR="0" marT="0" marB="0" anchor="ctr"/>
                </a:tc>
                <a:tc>
                  <a:txBody>
                    <a:bodyPr/>
                    <a:lstStyle/>
                    <a:p>
                      <a:pPr marL="61595" marR="0" lvl="0" indent="0" algn="ctr"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9579923611</a:t>
                      </a:r>
                      <a:endParaRPr sz="1000" u="none" strike="noStrike" cap="none">
                        <a:latin typeface="Times New Roman"/>
                      </a:endParaRPr>
                    </a:p>
                  </a:txBody>
                  <a:tcPr marL="0" marR="0" marT="0" marB="0" anchor="ctr"/>
                </a:tc>
                <a:tc>
                  <a:txBody>
                    <a:bodyPr/>
                    <a:lstStyle/>
                    <a:p>
                      <a:pPr marL="61595" marR="0" lvl="0" indent="0" algn="l"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swarali.1251130207@vit.edu</a:t>
                      </a:r>
                      <a:endParaRPr sz="1000" u="none" strike="noStrike" cap="none">
                        <a:latin typeface="Times New Roman"/>
                      </a:endParaRPr>
                    </a:p>
                  </a:txBody>
                  <a:tcPr marL="0" marR="0" marT="0" marB="0" anchor="ctr"/>
                </a:tc>
                <a:extLst>
                  <a:ext uri="{0D108BD9-81ED-4DB2-BD59-A6C34878D82A}">
                    <a16:rowId xmlns:a16="http://schemas.microsoft.com/office/drawing/2014/main" val="10002"/>
                  </a:ext>
                </a:extLst>
              </a:tr>
              <a:tr h="306792">
                <a:tc>
                  <a:txBody>
                    <a:bodyPr/>
                    <a:lstStyle/>
                    <a:p>
                      <a:pPr marL="61595" marR="0" lvl="0" indent="0" algn="ctr"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25</a:t>
                      </a:r>
                      <a:endParaRPr sz="1000" u="none" strike="noStrike" cap="none">
                        <a:latin typeface="Times New Roman"/>
                      </a:endParaRPr>
                    </a:p>
                  </a:txBody>
                  <a:tcPr marL="0" marR="0" marT="0" marB="0" anchor="ctr"/>
                </a:tc>
                <a:tc>
                  <a:txBody>
                    <a:bodyPr/>
                    <a:lstStyle/>
                    <a:p>
                      <a:pPr marL="61595" marR="0" lvl="0" indent="0" algn="ctr"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1251130196</a:t>
                      </a:r>
                      <a:endParaRPr sz="1000" u="none" strike="noStrike" cap="none">
                        <a:latin typeface="Times New Roman"/>
                      </a:endParaRPr>
                    </a:p>
                  </a:txBody>
                  <a:tcPr marL="0" marR="0" marT="0" marB="0" anchor="ctr"/>
                </a:tc>
                <a:tc>
                  <a:txBody>
                    <a:bodyPr/>
                    <a:lstStyle/>
                    <a:p>
                      <a:pPr marL="61595" marR="0" lvl="0" indent="0" algn="l"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Swayam Chhatre</a:t>
                      </a:r>
                      <a:endParaRPr sz="1000" u="none" strike="noStrike" cap="none">
                        <a:latin typeface="Times New Roman"/>
                      </a:endParaRPr>
                    </a:p>
                  </a:txBody>
                  <a:tcPr marL="0" marR="0" marT="0" marB="0" anchor="ctr"/>
                </a:tc>
                <a:tc>
                  <a:txBody>
                    <a:bodyPr/>
                    <a:lstStyle/>
                    <a:p>
                      <a:pPr marL="61595" marR="0" lvl="0" indent="0" algn="ctr"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8421548272</a:t>
                      </a:r>
                      <a:endParaRPr sz="1000" u="none" strike="noStrike" cap="none">
                        <a:latin typeface="Times New Roman"/>
                      </a:endParaRPr>
                    </a:p>
                  </a:txBody>
                  <a:tcPr marL="0" marR="0" marT="0" marB="0" anchor="ctr"/>
                </a:tc>
                <a:tc>
                  <a:txBody>
                    <a:bodyPr/>
                    <a:lstStyle/>
                    <a:p>
                      <a:pPr marL="61595" marR="0" lvl="0" indent="0" algn="l"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swayam.1251130196@vit.edu</a:t>
                      </a:r>
                      <a:endParaRPr sz="1000" u="none" strike="noStrike" cap="none">
                        <a:latin typeface="Times New Roman"/>
                      </a:endParaRPr>
                    </a:p>
                  </a:txBody>
                  <a:tcPr marL="0" marR="0" marT="0" marB="0" anchor="ctr"/>
                </a:tc>
                <a:extLst>
                  <a:ext uri="{0D108BD9-81ED-4DB2-BD59-A6C34878D82A}">
                    <a16:rowId xmlns:a16="http://schemas.microsoft.com/office/drawing/2014/main" val="10003"/>
                  </a:ext>
                </a:extLst>
              </a:tr>
              <a:tr h="306792">
                <a:tc>
                  <a:txBody>
                    <a:bodyPr/>
                    <a:lstStyle/>
                    <a:p>
                      <a:pPr marL="61595" marR="0" lvl="0" indent="0" algn="ctr" rtl="0">
                        <a:lnSpc>
                          <a:spcPct val="100000"/>
                        </a:lnSpc>
                        <a:spcBef>
                          <a:spcPts val="0"/>
                        </a:spcBef>
                        <a:spcAft>
                          <a:spcPts val="0"/>
                        </a:spcAft>
                        <a:buNone/>
                      </a:pPr>
                      <a:r>
                        <a:rPr lang="en-US" sz="1000" u="none" strike="noStrike" cap="none" dirty="0">
                          <a:latin typeface="Times New Roman"/>
                          <a:ea typeface="Times New Roman"/>
                          <a:cs typeface="Times New Roman"/>
                          <a:sym typeface="Times New Roman"/>
                        </a:rPr>
                        <a:t>26</a:t>
                      </a:r>
                      <a:endParaRPr sz="1000" u="none" strike="noStrike" cap="none" dirty="0">
                        <a:latin typeface="Times New Roman"/>
                      </a:endParaRPr>
                    </a:p>
                  </a:txBody>
                  <a:tcPr marL="0" marR="0" marT="0" marB="0" anchor="ctr"/>
                </a:tc>
                <a:tc>
                  <a:txBody>
                    <a:bodyPr/>
                    <a:lstStyle/>
                    <a:p>
                      <a:pPr marL="61595" marR="0" lvl="0" indent="0" algn="ctr"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1251130046</a:t>
                      </a:r>
                      <a:endParaRPr sz="1000" u="none" strike="noStrike" cap="none">
                        <a:latin typeface="Times New Roman"/>
                      </a:endParaRPr>
                    </a:p>
                  </a:txBody>
                  <a:tcPr marL="0" marR="0" marT="0" marB="0" anchor="ctr"/>
                </a:tc>
                <a:tc>
                  <a:txBody>
                    <a:bodyPr/>
                    <a:lstStyle/>
                    <a:p>
                      <a:pPr marL="61595" marR="0" lvl="0" indent="0" algn="l"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Tanishq Tadas</a:t>
                      </a:r>
                      <a:endParaRPr sz="1000" u="none" strike="noStrike" cap="none">
                        <a:latin typeface="Times New Roman"/>
                      </a:endParaRPr>
                    </a:p>
                  </a:txBody>
                  <a:tcPr marL="0" marR="0" marT="0" marB="0" anchor="ctr"/>
                </a:tc>
                <a:tc>
                  <a:txBody>
                    <a:bodyPr/>
                    <a:lstStyle/>
                    <a:p>
                      <a:pPr marL="61595" marR="0" lvl="0" indent="0" algn="ctr"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7559454261</a:t>
                      </a:r>
                      <a:endParaRPr sz="1000" u="none" strike="noStrike" cap="none">
                        <a:latin typeface="Times New Roman"/>
                      </a:endParaRPr>
                    </a:p>
                  </a:txBody>
                  <a:tcPr marL="0" marR="0" marT="0" marB="0" anchor="ctr"/>
                </a:tc>
                <a:tc>
                  <a:txBody>
                    <a:bodyPr/>
                    <a:lstStyle/>
                    <a:p>
                      <a:pPr marL="61595" marR="0" lvl="0" indent="0" algn="l" rtl="0">
                        <a:lnSpc>
                          <a:spcPct val="100000"/>
                        </a:lnSpc>
                        <a:spcBef>
                          <a:spcPts val="0"/>
                        </a:spcBef>
                        <a:spcAft>
                          <a:spcPts val="0"/>
                        </a:spcAft>
                        <a:buNone/>
                      </a:pPr>
                      <a:r>
                        <a:rPr lang="en-US" sz="1000" u="none" strike="noStrike" cap="none">
                          <a:latin typeface="Times New Roman"/>
                          <a:ea typeface="Times New Roman"/>
                          <a:cs typeface="Times New Roman"/>
                          <a:sym typeface="Times New Roman"/>
                        </a:rPr>
                        <a:t>tanishq.1251130046@vit.edu</a:t>
                      </a:r>
                      <a:endParaRPr sz="1000" u="none" strike="noStrike" cap="none">
                        <a:latin typeface="Times New Roman"/>
                      </a:endParaRPr>
                    </a:p>
                  </a:txBody>
                  <a:tcPr marL="0" marR="0" marT="0" marB="0" anchor="ctr"/>
                </a:tc>
                <a:extLst>
                  <a:ext uri="{0D108BD9-81ED-4DB2-BD59-A6C34878D82A}">
                    <a16:rowId xmlns:a16="http://schemas.microsoft.com/office/drawing/2014/main" val="10004"/>
                  </a:ext>
                </a:extLst>
              </a:tr>
              <a:tr h="306792">
                <a:tc>
                  <a:txBody>
                    <a:bodyPr/>
                    <a:lstStyle/>
                    <a:p>
                      <a:pPr marL="61595" marR="0" lvl="0" indent="0" algn="l" rtl="0">
                        <a:lnSpc>
                          <a:spcPct val="100000"/>
                        </a:lnSpc>
                        <a:spcBef>
                          <a:spcPts val="0"/>
                        </a:spcBef>
                        <a:spcAft>
                          <a:spcPts val="0"/>
                        </a:spcAft>
                        <a:buNone/>
                      </a:pPr>
                      <a:r>
                        <a:rPr lang="en-US" sz="1100" u="none" strike="noStrike" cap="none"/>
                        <a:t> </a:t>
                      </a:r>
                      <a:endParaRPr sz="1100" u="none" strike="noStrike" cap="none">
                        <a:latin typeface="Arial"/>
                        <a:ea typeface="Arial"/>
                        <a:cs typeface="Arial"/>
                        <a:sym typeface="Arial"/>
                      </a:endParaRPr>
                    </a:p>
                  </a:txBody>
                  <a:tcPr marL="0" marR="0" marT="0" marB="0"/>
                </a:tc>
                <a:tc>
                  <a:txBody>
                    <a:bodyPr/>
                    <a:lstStyle/>
                    <a:p>
                      <a:pPr marL="61595" marR="0" lvl="0" indent="0" algn="l" rtl="0">
                        <a:lnSpc>
                          <a:spcPct val="100000"/>
                        </a:lnSpc>
                        <a:spcBef>
                          <a:spcPts val="0"/>
                        </a:spcBef>
                        <a:spcAft>
                          <a:spcPts val="0"/>
                        </a:spcAft>
                        <a:buNone/>
                      </a:pPr>
                      <a:r>
                        <a:rPr lang="en-US" sz="1100" u="none" strike="noStrike" cap="none"/>
                        <a:t> </a:t>
                      </a:r>
                      <a:endParaRPr sz="1100" u="none" strike="noStrike" cap="none">
                        <a:latin typeface="Arial"/>
                        <a:ea typeface="Arial"/>
                        <a:cs typeface="Arial"/>
                        <a:sym typeface="Arial"/>
                      </a:endParaRPr>
                    </a:p>
                  </a:txBody>
                  <a:tcPr marL="0" marR="0" marT="0" marB="0" anchor="ctr"/>
                </a:tc>
                <a:tc>
                  <a:txBody>
                    <a:bodyPr/>
                    <a:lstStyle/>
                    <a:p>
                      <a:pPr marL="61595" marR="0" lvl="0" indent="0" algn="l" rtl="0">
                        <a:lnSpc>
                          <a:spcPct val="100000"/>
                        </a:lnSpc>
                        <a:spcBef>
                          <a:spcPts val="0"/>
                        </a:spcBef>
                        <a:spcAft>
                          <a:spcPts val="0"/>
                        </a:spcAft>
                        <a:buNone/>
                      </a:pPr>
                      <a:r>
                        <a:rPr lang="en-US" sz="1100" u="none" strike="noStrike" cap="none" dirty="0"/>
                        <a:t> </a:t>
                      </a:r>
                      <a:endParaRPr sz="1100" u="none" strike="noStrike" cap="none" dirty="0">
                        <a:latin typeface="Arial"/>
                        <a:ea typeface="Arial"/>
                        <a:cs typeface="Arial"/>
                        <a:sym typeface="Arial"/>
                      </a:endParaRPr>
                    </a:p>
                  </a:txBody>
                  <a:tcPr marL="0" marR="0" marT="0" marB="0" anchor="ctr"/>
                </a:tc>
                <a:tc>
                  <a:txBody>
                    <a:bodyPr/>
                    <a:lstStyle/>
                    <a:p>
                      <a:pPr marL="61595" marR="0" lvl="0" indent="0" algn="l" rtl="0">
                        <a:lnSpc>
                          <a:spcPct val="100000"/>
                        </a:lnSpc>
                        <a:spcBef>
                          <a:spcPts val="0"/>
                        </a:spcBef>
                        <a:spcAft>
                          <a:spcPts val="0"/>
                        </a:spcAft>
                        <a:buNone/>
                      </a:pPr>
                      <a:r>
                        <a:rPr lang="en-US" sz="1100" u="none" strike="noStrike" cap="none"/>
                        <a:t> </a:t>
                      </a:r>
                      <a:endParaRPr sz="1100" u="none" strike="noStrike" cap="none">
                        <a:latin typeface="Arial"/>
                        <a:ea typeface="Arial"/>
                        <a:cs typeface="Arial"/>
                        <a:sym typeface="Arial"/>
                      </a:endParaRPr>
                    </a:p>
                  </a:txBody>
                  <a:tcPr marL="0" marR="0" marT="0" marB="0" anchor="ctr"/>
                </a:tc>
                <a:tc>
                  <a:txBody>
                    <a:bodyPr/>
                    <a:lstStyle/>
                    <a:p>
                      <a:pPr marL="61595" marR="0" lvl="0" indent="0" algn="l" rtl="0">
                        <a:lnSpc>
                          <a:spcPct val="100000"/>
                        </a:lnSpc>
                        <a:spcBef>
                          <a:spcPts val="0"/>
                        </a:spcBef>
                        <a:spcAft>
                          <a:spcPts val="0"/>
                        </a:spcAft>
                        <a:buNone/>
                      </a:pPr>
                      <a:endParaRPr sz="1100" u="none" strike="noStrike" cap="none" dirty="0">
                        <a:latin typeface="Arial"/>
                        <a:ea typeface="Arial"/>
                        <a:cs typeface="Arial"/>
                        <a:sym typeface="Arial"/>
                      </a:endParaRPr>
                    </a:p>
                  </a:txBody>
                  <a:tcPr marL="0" marR="0" marT="0" marB="0" anchor="ctr"/>
                </a:tc>
                <a:extLst>
                  <a:ext uri="{0D108BD9-81ED-4DB2-BD59-A6C34878D82A}">
                    <a16:rowId xmlns:a16="http://schemas.microsoft.com/office/drawing/2014/main" val="10005"/>
                  </a:ext>
                </a:extLst>
              </a:tr>
              <a:tr h="362365">
                <a:tc>
                  <a:txBody>
                    <a:bodyPr/>
                    <a:lstStyle/>
                    <a:p>
                      <a:pPr marL="61595" marR="0" lvl="0" indent="0" algn="l" rtl="0">
                        <a:lnSpc>
                          <a:spcPct val="100000"/>
                        </a:lnSpc>
                        <a:spcBef>
                          <a:spcPts val="0"/>
                        </a:spcBef>
                        <a:spcAft>
                          <a:spcPts val="0"/>
                        </a:spcAft>
                        <a:buNone/>
                      </a:pPr>
                      <a:r>
                        <a:rPr lang="en-US" sz="1100" u="none" strike="noStrike" cap="none"/>
                        <a:t> </a:t>
                      </a:r>
                      <a:endParaRPr sz="1100" u="none" strike="noStrike" cap="none">
                        <a:latin typeface="Arial"/>
                        <a:ea typeface="Arial"/>
                        <a:cs typeface="Arial"/>
                        <a:sym typeface="Arial"/>
                      </a:endParaRPr>
                    </a:p>
                  </a:txBody>
                  <a:tcPr marL="0" marR="0" marT="0" marB="0"/>
                </a:tc>
                <a:tc>
                  <a:txBody>
                    <a:bodyPr/>
                    <a:lstStyle/>
                    <a:p>
                      <a:pPr marL="61595" marR="0" lvl="0" indent="0" algn="l" rtl="0">
                        <a:lnSpc>
                          <a:spcPct val="100000"/>
                        </a:lnSpc>
                        <a:spcBef>
                          <a:spcPts val="0"/>
                        </a:spcBef>
                        <a:spcAft>
                          <a:spcPts val="0"/>
                        </a:spcAft>
                        <a:buNone/>
                      </a:pPr>
                      <a:r>
                        <a:rPr lang="en-US" sz="1100" u="none" strike="noStrike" cap="none"/>
                        <a:t> </a:t>
                      </a:r>
                      <a:endParaRPr sz="1100" u="none" strike="noStrike" cap="none">
                        <a:latin typeface="Arial"/>
                        <a:ea typeface="Arial"/>
                        <a:cs typeface="Arial"/>
                        <a:sym typeface="Arial"/>
                      </a:endParaRPr>
                    </a:p>
                  </a:txBody>
                  <a:tcPr marL="0" marR="0" marT="0" marB="0" anchor="ctr"/>
                </a:tc>
                <a:tc>
                  <a:txBody>
                    <a:bodyPr/>
                    <a:lstStyle/>
                    <a:p>
                      <a:pPr marL="61595" marR="0" lvl="0" indent="0" algn="l" rtl="0">
                        <a:lnSpc>
                          <a:spcPct val="100000"/>
                        </a:lnSpc>
                        <a:spcBef>
                          <a:spcPts val="0"/>
                        </a:spcBef>
                        <a:spcAft>
                          <a:spcPts val="0"/>
                        </a:spcAft>
                        <a:buNone/>
                      </a:pPr>
                      <a:r>
                        <a:rPr lang="en-US" sz="1100" u="none" strike="noStrike" cap="none"/>
                        <a:t> </a:t>
                      </a:r>
                      <a:endParaRPr sz="1100" u="none" strike="noStrike" cap="none">
                        <a:latin typeface="Arial"/>
                        <a:ea typeface="Arial"/>
                        <a:cs typeface="Arial"/>
                        <a:sym typeface="Arial"/>
                      </a:endParaRPr>
                    </a:p>
                  </a:txBody>
                  <a:tcPr marL="0" marR="0" marT="0" marB="0" anchor="ctr"/>
                </a:tc>
                <a:tc>
                  <a:txBody>
                    <a:bodyPr/>
                    <a:lstStyle/>
                    <a:p>
                      <a:pPr marL="61595" marR="0" lvl="0" indent="0" algn="l" rtl="0">
                        <a:lnSpc>
                          <a:spcPct val="100000"/>
                        </a:lnSpc>
                        <a:spcBef>
                          <a:spcPts val="0"/>
                        </a:spcBef>
                        <a:spcAft>
                          <a:spcPts val="0"/>
                        </a:spcAft>
                        <a:buNone/>
                      </a:pPr>
                      <a:r>
                        <a:rPr lang="en-US" sz="1100" u="none" strike="noStrike" cap="none"/>
                        <a:t> </a:t>
                      </a:r>
                      <a:endParaRPr sz="1100" u="none" strike="noStrike" cap="none">
                        <a:latin typeface="Arial"/>
                        <a:ea typeface="Arial"/>
                        <a:cs typeface="Arial"/>
                        <a:sym typeface="Arial"/>
                      </a:endParaRPr>
                    </a:p>
                  </a:txBody>
                  <a:tcPr marL="0" marR="0" marT="0" marB="0" anchor="ctr"/>
                </a:tc>
                <a:tc>
                  <a:txBody>
                    <a:bodyPr/>
                    <a:lstStyle/>
                    <a:p>
                      <a:pPr marL="61595" marR="0" lvl="0" indent="0" algn="l" rtl="0">
                        <a:lnSpc>
                          <a:spcPct val="100000"/>
                        </a:lnSpc>
                        <a:spcBef>
                          <a:spcPts val="0"/>
                        </a:spcBef>
                        <a:spcAft>
                          <a:spcPts val="0"/>
                        </a:spcAft>
                        <a:buNone/>
                      </a:pPr>
                      <a:r>
                        <a:rPr lang="en-US" sz="1100" u="none" strike="noStrike" cap="none" dirty="0"/>
                        <a:t> </a:t>
                      </a:r>
                      <a:endParaRPr sz="1100" u="none" strike="noStrike" cap="none" dirty="0">
                        <a:latin typeface="Arial"/>
                        <a:ea typeface="Arial"/>
                        <a:cs typeface="Arial"/>
                        <a:sym typeface="Arial"/>
                      </a:endParaRPr>
                    </a:p>
                  </a:txBody>
                  <a:tcPr marL="0" marR="0" marT="0" marB="0" anchor="ctr"/>
                </a:tc>
                <a:extLst>
                  <a:ext uri="{0D108BD9-81ED-4DB2-BD59-A6C34878D82A}">
                    <a16:rowId xmlns:a16="http://schemas.microsoft.com/office/drawing/2014/main" val="10006"/>
                  </a:ext>
                </a:extLst>
              </a:tr>
            </a:tbl>
          </a:graphicData>
        </a:graphic>
      </p:graphicFrame>
      <p:pic>
        <p:nvPicPr>
          <p:cNvPr id="94" name="Google Shape;94;p1"/>
          <p:cNvPicPr preferRelativeResize="0"/>
          <p:nvPr/>
        </p:nvPicPr>
        <p:blipFill rotWithShape="1">
          <a:blip r:embed="rId3">
            <a:alphaModFix/>
          </a:blip>
          <a:srcRect/>
          <a:stretch/>
        </p:blipFill>
        <p:spPr>
          <a:xfrm>
            <a:off x="3754316" y="448408"/>
            <a:ext cx="1283676" cy="136280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a:ea typeface="Times New Roman"/>
                <a:cs typeface="Times New Roman"/>
                <a:sym typeface="Times New Roman"/>
              </a:rPr>
              <a:t>Abstract </a:t>
            </a:r>
            <a:endParaRPr dirty="0">
              <a:latin typeface="Times New Roman"/>
              <a:ea typeface="Times New Roman"/>
              <a:cs typeface="Times New Roman"/>
              <a:sym typeface="Times New Roman"/>
            </a:endParaRPr>
          </a:p>
        </p:txBody>
      </p:sp>
      <p:sp>
        <p:nvSpPr>
          <p:cNvPr id="100" name="Google Shape;100;p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lnSpc>
                <a:spcPct val="100000"/>
              </a:lnSpc>
              <a:spcBef>
                <a:spcPts val="0"/>
              </a:spcBef>
              <a:spcAft>
                <a:spcPts val="0"/>
              </a:spcAft>
              <a:buClr>
                <a:schemeClr val="dk1"/>
              </a:buClr>
              <a:buSzPts val="1600"/>
              <a:buNone/>
            </a:pPr>
            <a:r>
              <a:rPr lang="en-US" sz="1800" dirty="0">
                <a:latin typeface="Times New Roman"/>
              </a:rPr>
              <a:t>This project presents an interactive data analytics dashboard built using Python and Plotly to visualize Global CO2 Emissions data for the years 2018 and 2020. The dataset sourced from Our World in Data covers per-capita CO2 emissions across 190+ countries, categorized by continent and income group. The dashboard features five key visualizations: a bar chart of Top 10 highest emitting countries (led by Qatar at 31.73 Mt), a comparative 2018 vs 2020 bar chart revealing the impact of COVID-19 lockdowns on global emissions (total: 724 Mt in 2020), a donut chart showing continental distribution (Asia: 38.9%, Europe: 31.6%), a bar chart of emissions by income group (High Income nations contributing 421.2 Mt), and a scatter plot analyzing emission change trends. Built with Pandas for data processing and Plotly Dash for the interactive interface, this tool provides a comprehensive, multi-layered story of global carbon footprints, serving as both an educational tool and environmental awareness platform.</a:t>
            </a:r>
          </a:p>
        </p:txBody>
      </p:sp>
      <p:pic>
        <p:nvPicPr>
          <p:cNvPr id="101" name="Google Shape;101;p2"/>
          <p:cNvPicPr preferRelativeResize="0"/>
          <p:nvPr/>
        </p:nvPicPr>
        <p:blipFill rotWithShape="1">
          <a:blip r:embed="rId3">
            <a:alphaModFix/>
          </a:blip>
          <a:srcRect/>
          <a:stretch/>
        </p:blipFill>
        <p:spPr>
          <a:xfrm>
            <a:off x="0" y="0"/>
            <a:ext cx="940777" cy="931985"/>
          </a:xfrm>
          <a:prstGeom prst="rect">
            <a:avLst/>
          </a:prstGeom>
          <a:noFill/>
          <a:ln>
            <a:noFill/>
          </a:ln>
        </p:spPr>
      </p:pic>
      <p:sp>
        <p:nvSpPr>
          <p:cNvPr id="102" name="Google Shape;10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1/20/2025</a:t>
            </a:r>
            <a:endParaRPr/>
          </a:p>
        </p:txBody>
      </p:sp>
      <p:sp>
        <p:nvSpPr>
          <p:cNvPr id="103" name="Google Shape;103;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2</a:t>
            </a:fld>
            <a:endParaRPr/>
          </a:p>
        </p:txBody>
      </p:sp>
      <p:sp>
        <p:nvSpPr>
          <p:cNvPr id="104" name="Google Shape;104;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Global CO2 Emissions Analysis (Data Analysis)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a:ea typeface="Times New Roman"/>
                <a:cs typeface="Times New Roman"/>
                <a:sym typeface="Times New Roman"/>
              </a:rPr>
              <a:t>Flow Of Program</a:t>
            </a:r>
            <a:endParaRPr dirty="0">
              <a:latin typeface="Times New Roman"/>
              <a:ea typeface="Times New Roman"/>
              <a:cs typeface="Times New Roman"/>
              <a:sym typeface="Times New Roman"/>
            </a:endParaRPr>
          </a:p>
        </p:txBody>
      </p:sp>
      <p:sp>
        <p:nvSpPr>
          <p:cNvPr id="110" name="Google Shape;110;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200"/>
              </a:spcAft>
              <a:buNone/>
            </a:pPr>
            <a:endParaRPr dirty="0"/>
          </a:p>
        </p:txBody>
      </p:sp>
      <p:pic>
        <p:nvPicPr>
          <p:cNvPr id="111" name="Google Shape;111;p3"/>
          <p:cNvPicPr preferRelativeResize="0"/>
          <p:nvPr/>
        </p:nvPicPr>
        <p:blipFill rotWithShape="1">
          <a:blip r:embed="rId3">
            <a:alphaModFix/>
          </a:blip>
          <a:srcRect/>
          <a:stretch/>
        </p:blipFill>
        <p:spPr>
          <a:xfrm>
            <a:off x="0" y="0"/>
            <a:ext cx="940777" cy="931985"/>
          </a:xfrm>
          <a:prstGeom prst="rect">
            <a:avLst/>
          </a:prstGeom>
          <a:noFill/>
          <a:ln>
            <a:noFill/>
          </a:ln>
        </p:spPr>
      </p:pic>
      <p:sp>
        <p:nvSpPr>
          <p:cNvPr id="112" name="Google Shape;112;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1/20/2025</a:t>
            </a:r>
            <a:endParaRPr/>
          </a:p>
        </p:txBody>
      </p:sp>
      <p:sp>
        <p:nvSpPr>
          <p:cNvPr id="113" name="Google Shape;113;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3</a:t>
            </a:fld>
            <a:endParaRPr/>
          </a:p>
        </p:txBody>
      </p:sp>
      <p:sp>
        <p:nvSpPr>
          <p:cNvPr id="114" name="Google Shape;114;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Global CO2 Emissions Analysis (Data Analysis)</a:t>
            </a:r>
            <a:endParaRPr/>
          </a:p>
        </p:txBody>
      </p:sp>
      <p:sp>
        <p:nvSpPr>
          <p:cNvPr id="201" name="FC_Start"/>
          <p:cNvSpPr/>
          <p:nvPr/>
        </p:nvSpPr>
        <p:spPr>
          <a:xfrm>
            <a:off x="3200400" y="1371600"/>
            <a:ext cx="1828800" cy="457200"/>
          </a:xfrm>
          <a:prstGeom prst="ellipse">
            <a:avLst/>
          </a:prstGeom>
          <a:solidFill>
            <a:srgbClr val="1F4E79"/>
          </a:solidFill>
          <a:ln>
            <a:solidFill>
              <a:srgbClr val="FFFFFF"/>
            </a:solidFill>
          </a:ln>
        </p:spPr>
        <p:txBody>
          <a:bodyPr anchor="ctr"/>
          <a:lstStyle/>
          <a:p>
            <a:pPr algn="ctr"/>
            <a:r>
              <a:rPr lang="en-US" sz="1200" b="1">
                <a:solidFill>
                  <a:srgbClr val="FFFFFF"/>
                </a:solidFill>
                <a:latin typeface="Times New Roman"/>
              </a:rPr>
              <a:t>START</a:t>
            </a:r>
          </a:p>
        </p:txBody>
      </p:sp>
      <p:sp>
        <p:nvSpPr>
          <p:cNvPr id="202" name="Arrow1"/>
          <p:cNvSpPr txBox="1"/>
          <p:nvPr/>
        </p:nvSpPr>
        <p:spPr>
          <a:xfrm>
            <a:off x="4038600" y="1828800"/>
            <a:ext cx="152400" cy="304800"/>
          </a:xfrm>
          <a:prstGeom prst="downArrow">
            <a:avLst/>
          </a:prstGeom>
          <a:solidFill>
            <a:srgbClr val="2E75B6"/>
          </a:solidFill>
          <a:ln>
            <a:noFill/>
          </a:ln>
        </p:spPr>
        <p:txBody>
          <a:bodyPr/>
          <a:lstStyle/>
          <a:p>
            <a:endParaRPr/>
          </a:p>
        </p:txBody>
      </p:sp>
      <p:sp>
        <p:nvSpPr>
          <p:cNvPr id="203" name="FC_Load"/>
          <p:cNvSpPr/>
          <p:nvPr/>
        </p:nvSpPr>
        <p:spPr>
          <a:xfrm>
            <a:off x="3048000" y="2133600"/>
            <a:ext cx="2133600" cy="457200"/>
          </a:xfrm>
          <a:prstGeom prst="rect">
            <a:avLst/>
          </a:prstGeom>
          <a:solidFill>
            <a:srgbClr val="2E75B6"/>
          </a:solidFill>
          <a:ln>
            <a:solidFill>
              <a:srgbClr val="1F4E79"/>
            </a:solidFill>
          </a:ln>
        </p:spPr>
        <p:txBody>
          <a:bodyPr anchor="ctr"/>
          <a:lstStyle/>
          <a:p>
            <a:pPr algn="ctr"/>
            <a:r>
              <a:rPr lang="en-US" sz="1100" b="1">
                <a:solidFill>
                  <a:srgbClr val="FFFFFF"/>
                </a:solidFill>
                <a:latin typeface="Times New Roman"/>
              </a:rPr>
              <a:t>Load CSV Dataset</a:t>
            </a:r>
          </a:p>
          <a:p>
            <a:pPr algn="ctr"/>
            <a:r>
              <a:rPr lang="en-US" sz="900">
                <a:solidFill>
                  <a:srgbClr val="D9E2F3"/>
                </a:solidFill>
                <a:latin typeface="Times New Roman"/>
              </a:rPr>
              <a:t>(carbon_emission.csv via Pandas)</a:t>
            </a:r>
          </a:p>
        </p:txBody>
      </p:sp>
      <p:sp>
        <p:nvSpPr>
          <p:cNvPr id="204" name="Arrow2"/>
          <p:cNvSpPr txBox="1"/>
          <p:nvPr/>
        </p:nvSpPr>
        <p:spPr>
          <a:xfrm>
            <a:off x="4038600" y="2590800"/>
            <a:ext cx="152400" cy="304800"/>
          </a:xfrm>
          <a:prstGeom prst="downArrow">
            <a:avLst/>
          </a:prstGeom>
          <a:solidFill>
            <a:srgbClr val="2E75B6"/>
          </a:solidFill>
          <a:ln>
            <a:noFill/>
          </a:ln>
        </p:spPr>
        <p:txBody>
          <a:bodyPr/>
          <a:lstStyle/>
          <a:p>
            <a:endParaRPr/>
          </a:p>
        </p:txBody>
      </p:sp>
      <p:sp>
        <p:nvSpPr>
          <p:cNvPr id="205" name="FC_Process"/>
          <p:cNvSpPr/>
          <p:nvPr/>
        </p:nvSpPr>
        <p:spPr>
          <a:xfrm>
            <a:off x="3048000" y="2895600"/>
            <a:ext cx="2133600" cy="457200"/>
          </a:xfrm>
          <a:prstGeom prst="rect">
            <a:avLst/>
          </a:prstGeom>
          <a:solidFill>
            <a:srgbClr val="375623"/>
          </a:solidFill>
          <a:ln>
            <a:solidFill>
              <a:srgbClr val="375623"/>
            </a:solidFill>
          </a:ln>
        </p:spPr>
        <p:txBody>
          <a:bodyPr anchor="ctr"/>
          <a:lstStyle/>
          <a:p>
            <a:pPr algn="ctr"/>
            <a:r>
              <a:rPr lang="en-US" sz="1100" b="1">
                <a:solidFill>
                  <a:srgbClr val="FFFFFF"/>
                </a:solidFill>
                <a:latin typeface="Times New Roman"/>
              </a:rPr>
              <a:t>Clean &amp; Filter Data</a:t>
            </a:r>
          </a:p>
          <a:p>
            <a:pPr algn="ctr"/>
            <a:r>
              <a:rPr lang="en-US" sz="900">
                <a:solidFill>
                  <a:srgbClr val="D9E2F3"/>
                </a:solidFill>
                <a:latin typeface="Times New Roman"/>
              </a:rPr>
              <a:t>(Filter by Year, Country, Continent)</a:t>
            </a:r>
          </a:p>
        </p:txBody>
      </p:sp>
      <p:sp>
        <p:nvSpPr>
          <p:cNvPr id="206" name="Arrow3"/>
          <p:cNvSpPr txBox="1"/>
          <p:nvPr/>
        </p:nvSpPr>
        <p:spPr>
          <a:xfrm>
            <a:off x="4038600" y="3352800"/>
            <a:ext cx="152400" cy="304800"/>
          </a:xfrm>
          <a:prstGeom prst="downArrow">
            <a:avLst/>
          </a:prstGeom>
          <a:solidFill>
            <a:srgbClr val="2E75B6"/>
          </a:solidFill>
          <a:ln>
            <a:noFill/>
          </a:ln>
        </p:spPr>
        <p:txBody>
          <a:bodyPr/>
          <a:lstStyle/>
          <a:p>
            <a:endParaRPr/>
          </a:p>
        </p:txBody>
      </p:sp>
      <p:sp>
        <p:nvSpPr>
          <p:cNvPr id="207" name="FC_Visualize"/>
          <p:cNvSpPr/>
          <p:nvPr/>
        </p:nvSpPr>
        <p:spPr>
          <a:xfrm>
            <a:off x="3048000" y="3657600"/>
            <a:ext cx="2133600" cy="457200"/>
          </a:xfrm>
          <a:prstGeom prst="rect">
            <a:avLst/>
          </a:prstGeom>
          <a:solidFill>
            <a:srgbClr val="7030A0"/>
          </a:solidFill>
          <a:ln>
            <a:solidFill>
              <a:srgbClr val="7030A0"/>
            </a:solidFill>
          </a:ln>
        </p:spPr>
        <p:txBody>
          <a:bodyPr anchor="ctr"/>
          <a:lstStyle/>
          <a:p>
            <a:pPr algn="ctr"/>
            <a:r>
              <a:rPr lang="en-US" sz="1100" b="1">
                <a:solidFill>
                  <a:srgbClr val="FFFFFF"/>
                </a:solidFill>
                <a:latin typeface="Times New Roman"/>
              </a:rPr>
              <a:t>Generate Visualizations</a:t>
            </a:r>
          </a:p>
          <a:p>
            <a:pPr algn="ctr"/>
            <a:r>
              <a:rPr lang="en-US" sz="900">
                <a:solidFill>
                  <a:srgbClr val="E2CFEE"/>
                </a:solidFill>
                <a:latin typeface="Times New Roman"/>
              </a:rPr>
              <a:t>(Bar, Pie, Scatter via Plotly)</a:t>
            </a:r>
          </a:p>
        </p:txBody>
      </p:sp>
      <p:sp>
        <p:nvSpPr>
          <p:cNvPr id="208" name="Arrow4"/>
          <p:cNvSpPr txBox="1"/>
          <p:nvPr/>
        </p:nvSpPr>
        <p:spPr>
          <a:xfrm>
            <a:off x="4038600" y="4114800"/>
            <a:ext cx="152400" cy="304800"/>
          </a:xfrm>
          <a:prstGeom prst="downArrow">
            <a:avLst/>
          </a:prstGeom>
          <a:solidFill>
            <a:srgbClr val="2E75B6"/>
          </a:solidFill>
          <a:ln>
            <a:noFill/>
          </a:ln>
        </p:spPr>
        <p:txBody>
          <a:bodyPr/>
          <a:lstStyle/>
          <a:p>
            <a:endParaRPr/>
          </a:p>
        </p:txBody>
      </p:sp>
      <p:sp>
        <p:nvSpPr>
          <p:cNvPr id="209" name="FC_Output"/>
          <p:cNvSpPr/>
          <p:nvPr/>
        </p:nvSpPr>
        <p:spPr>
          <a:xfrm>
            <a:off x="3048000" y="4419600"/>
            <a:ext cx="2133600" cy="457200"/>
          </a:xfrm>
          <a:prstGeom prst="rect">
            <a:avLst/>
          </a:prstGeom>
          <a:solidFill>
            <a:srgbClr val="C55A11"/>
          </a:solidFill>
          <a:ln>
            <a:solidFill>
              <a:srgbClr val="C55A11"/>
            </a:solidFill>
          </a:ln>
        </p:spPr>
        <p:txBody>
          <a:bodyPr anchor="ctr"/>
          <a:lstStyle/>
          <a:p>
            <a:pPr algn="ctr"/>
            <a:r>
              <a:rPr lang="en-US" sz="1100" b="1">
                <a:solidFill>
                  <a:srgbClr val="FFFFFF"/>
                </a:solidFill>
                <a:latin typeface="Times New Roman"/>
              </a:rPr>
              <a:t>Display Interactive Dashboard</a:t>
            </a:r>
          </a:p>
          <a:p>
            <a:pPr algn="ctr"/>
            <a:r>
              <a:rPr lang="en-US" sz="900">
                <a:solidFill>
                  <a:srgbClr val="FCE4D6"/>
                </a:solidFill>
                <a:latin typeface="Times New Roman"/>
              </a:rPr>
              <a:t>(Plotly Dash Web App)</a:t>
            </a:r>
          </a:p>
        </p:txBody>
      </p:sp>
      <p:sp>
        <p:nvSpPr>
          <p:cNvPr id="210" name="FC_End"/>
          <p:cNvSpPr/>
          <p:nvPr/>
        </p:nvSpPr>
        <p:spPr>
          <a:xfrm>
            <a:off x="3200400" y="4990800"/>
            <a:ext cx="1828800" cy="457200"/>
          </a:xfrm>
          <a:prstGeom prst="ellipse">
            <a:avLst/>
          </a:prstGeom>
          <a:solidFill>
            <a:srgbClr val="1F4E79"/>
          </a:solidFill>
          <a:ln>
            <a:solidFill>
              <a:srgbClr val="FFFFFF"/>
            </a:solidFill>
          </a:ln>
        </p:spPr>
        <p:txBody>
          <a:bodyPr anchor="ctr"/>
          <a:lstStyle/>
          <a:p>
            <a:pPr algn="ctr"/>
            <a:r>
              <a:rPr lang="en-US" sz="1200" b="1">
                <a:solidFill>
                  <a:srgbClr val="FFFFFF"/>
                </a:solidFill>
                <a:latin typeface="Times New Roman"/>
              </a:rPr>
              <a:t>END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87B62-2312-0FCA-04EB-BA15E59D2177}"/>
              </a:ext>
            </a:extLst>
          </p:cNvPr>
          <p:cNvSpPr>
            <a:spLocks noGrp="1"/>
          </p:cNvSpPr>
          <p:nvPr>
            <p:ph type="title"/>
          </p:nvPr>
        </p:nvSpPr>
        <p:spPr/>
        <p:txBody>
          <a:bodyPr/>
          <a:lstStyle/>
          <a:p>
            <a:pPr>
              <a:buSzPts val="4400"/>
            </a:pPr>
            <a:r>
              <a:rPr lang="en-IN" b="1" dirty="0">
                <a:latin typeface="Times New Roman"/>
                <a:cs typeface="Times New Roman"/>
              </a:rPr>
              <a:t>Features of your Project</a:t>
            </a:r>
          </a:p>
        </p:txBody>
      </p:sp>
      <p:sp>
        <p:nvSpPr>
          <p:cNvPr id="3" name="Text Placeholder 2">
            <a:extLst>
              <a:ext uri="{FF2B5EF4-FFF2-40B4-BE49-F238E27FC236}">
                <a16:creationId xmlns:a16="http://schemas.microsoft.com/office/drawing/2014/main" id="{C04ED767-2CE2-F1A1-99DA-616B9B1671AA}"/>
              </a:ext>
            </a:extLst>
          </p:cNvPr>
          <p:cNvSpPr>
            <a:spLocks noGrp="1"/>
          </p:cNvSpPr>
          <p:nvPr>
            <p:ph type="body" idx="1"/>
          </p:nvPr>
        </p:nvSpPr>
        <p:spPr/>
        <p:txBody>
          <a:bodyPr spcFirstLastPara="1" wrap="square" lIns="91425" tIns="45700" rIns="91425" bIns="45700" anchor="t" anchorCtr="0">
            <a:normAutofit/>
          </a:bodyPr>
          <a:lstStyle/>
          <a:p>
            <a:pPr marL="342900" lvl="0" indent="-139700" algn="l" rtl="0">
              <a:lnSpc>
                <a:spcPct val="115000"/>
              </a:lnSpc>
              <a:spcBef>
                <a:spcPts val="0"/>
              </a:spcBef>
              <a:spcAft>
                <a:spcPts val="200"/>
              </a:spcAft>
              <a:buNone/>
            </a:pPr>
            <a:r>
              <a:rPr lang="en-US" sz="1800" b="1" dirty="0">
                <a:solidFill>
                  <a:srgbClr val="1F4E79"/>
                </a:solidFill>
                <a:latin typeface="Times New Roman"/>
              </a:rPr>
              <a:t>Libraries Used:</a:t>
            </a:r>
          </a:p>
          <a:p>
            <a:pPr marL="457200" lvl="1" indent="-228600" algn="l" rtl="0">
              <a:lnSpc>
                <a:spcPct val="115000"/>
              </a:lnSpc>
              <a:spcBef>
                <a:spcPts val="0"/>
              </a:spcBef>
              <a:spcAft>
                <a:spcPts val="100"/>
              </a:spcAft>
              <a:buChar char="●"/>
            </a:pPr>
            <a:r>
              <a:rPr lang="en-US" sz="1800" b="1" dirty="0">
                <a:latin typeface="Times New Roman"/>
              </a:rPr>
              <a:t>Pandas</a:t>
            </a:r>
            <a:r>
              <a:rPr lang="en-US" sz="1800" dirty="0">
                <a:latin typeface="Times New Roman"/>
              </a:rPr>
              <a:t> - Data loading, cleaning, filtering, and aggregation of the CSV dataset</a:t>
            </a:r>
          </a:p>
          <a:p>
            <a:pPr marL="457200" lvl="1" indent="-228600" algn="l" rtl="0">
              <a:lnSpc>
                <a:spcPct val="115000"/>
              </a:lnSpc>
              <a:spcBef>
                <a:spcPts val="0"/>
              </a:spcBef>
              <a:spcAft>
                <a:spcPts val="100"/>
              </a:spcAft>
              <a:buChar char="●"/>
            </a:pPr>
            <a:r>
              <a:rPr lang="en-US" sz="1800" b="1" dirty="0">
                <a:latin typeface="Times New Roman"/>
              </a:rPr>
              <a:t>Plotly Express &amp; Graph Objects</a:t>
            </a:r>
            <a:r>
              <a:rPr lang="en-US" sz="1800" dirty="0">
                <a:latin typeface="Times New Roman"/>
              </a:rPr>
              <a:t> - Interactive bar charts, donut charts, and scatter plots</a:t>
            </a:r>
          </a:p>
          <a:p>
            <a:pPr marL="457200" lvl="1" indent="-228600" algn="l" rtl="0">
              <a:lnSpc>
                <a:spcPct val="115000"/>
              </a:lnSpc>
              <a:spcBef>
                <a:spcPts val="0"/>
              </a:spcBef>
              <a:spcAft>
                <a:spcPts val="100"/>
              </a:spcAft>
              <a:buChar char="●"/>
            </a:pPr>
            <a:r>
              <a:rPr lang="en-US" sz="1800" b="1" dirty="0">
                <a:latin typeface="Times New Roman"/>
              </a:rPr>
              <a:t>Plotly Dash</a:t>
            </a:r>
            <a:r>
              <a:rPr lang="en-US" sz="1800" dirty="0">
                <a:latin typeface="Times New Roman"/>
              </a:rPr>
              <a:t> - Framework to build the interactive web-based dashboard application</a:t>
            </a:r>
          </a:p>
          <a:p>
            <a:pPr marL="457200" lvl="1" indent="-228600" algn="l" rtl="0">
              <a:lnSpc>
                <a:spcPct val="115000"/>
              </a:lnSpc>
              <a:spcBef>
                <a:spcPts val="0"/>
              </a:spcBef>
              <a:spcAft>
                <a:spcPts val="100"/>
              </a:spcAft>
              <a:buChar char="●"/>
            </a:pPr>
            <a:r>
              <a:rPr lang="en-US" sz="1800" b="1" dirty="0">
                <a:latin typeface="Times New Roman"/>
              </a:rPr>
              <a:t>NumPy</a:t>
            </a:r>
            <a:r>
              <a:rPr lang="en-US" sz="1800" dirty="0">
                <a:latin typeface="Times New Roman"/>
              </a:rPr>
              <a:t> - Numerical operations and array manipulation for data processing</a:t>
            </a:r>
          </a:p>
          <a:p>
            <a:pPr marL="342900" lvl="0" indent="-139700" algn="l" rtl="0">
              <a:lnSpc>
                <a:spcPct val="115000"/>
              </a:lnSpc>
              <a:spcBef>
                <a:spcPts val="400"/>
              </a:spcBef>
              <a:spcAft>
                <a:spcPts val="200"/>
              </a:spcAft>
              <a:buNone/>
            </a:pPr>
            <a:r>
              <a:rPr lang="en-US" sz="1800" b="1" dirty="0">
                <a:solidFill>
                  <a:srgbClr val="1F4E79"/>
                </a:solidFill>
                <a:latin typeface="Times New Roman"/>
              </a:rPr>
              <a:t>Key Features:</a:t>
            </a:r>
          </a:p>
          <a:p>
            <a:pPr marL="457200" lvl="1" indent="-228600" algn="l" rtl="0">
              <a:lnSpc>
                <a:spcPct val="115000"/>
              </a:lnSpc>
              <a:spcBef>
                <a:spcPts val="0"/>
              </a:spcBef>
              <a:spcAft>
                <a:spcPts val="100"/>
              </a:spcAft>
              <a:buChar char="●"/>
            </a:pPr>
            <a:r>
              <a:rPr lang="en-US" sz="1800" dirty="0">
                <a:latin typeface="Times New Roman"/>
              </a:rPr>
              <a:t>Dark-themed, fully interactive Plotly Dash dashboard interface</a:t>
            </a:r>
          </a:p>
          <a:p>
            <a:pPr marL="457200" lvl="1" indent="-228600" algn="l" rtl="0">
              <a:lnSpc>
                <a:spcPct val="115000"/>
              </a:lnSpc>
              <a:spcBef>
                <a:spcPts val="0"/>
              </a:spcBef>
              <a:spcAft>
                <a:spcPts val="100"/>
              </a:spcAft>
              <a:buChar char="●"/>
            </a:pPr>
            <a:r>
              <a:rPr lang="en-US" sz="1800" dirty="0">
                <a:latin typeface="Times New Roman"/>
              </a:rPr>
              <a:t>5 visualization types: Bar, Comparative Bar, Donut, Income Group Bar, Scatter Plot</a:t>
            </a:r>
          </a:p>
          <a:p>
            <a:pPr marL="457200" lvl="1" indent="-228600" algn="l" rtl="0">
              <a:lnSpc>
                <a:spcPct val="115000"/>
              </a:lnSpc>
              <a:spcBef>
                <a:spcPts val="0"/>
              </a:spcBef>
              <a:spcAft>
                <a:spcPts val="100"/>
              </a:spcAft>
              <a:buChar char="●"/>
            </a:pPr>
            <a:r>
              <a:rPr lang="en-US" sz="1800" dirty="0">
                <a:latin typeface="Times New Roman"/>
              </a:rPr>
              <a:t>Analyzes 190+ countries across 6 continents and 5 income groups</a:t>
            </a:r>
          </a:p>
          <a:p>
            <a:pPr marL="457200" lvl="1" indent="-228600" algn="l" rtl="0">
              <a:lnSpc>
                <a:spcPct val="115000"/>
              </a:lnSpc>
              <a:spcBef>
                <a:spcPts val="0"/>
              </a:spcBef>
              <a:spcAft>
                <a:spcPts val="100"/>
              </a:spcAft>
              <a:buChar char="●"/>
            </a:pPr>
            <a:r>
              <a:rPr lang="en-US" sz="1800" dirty="0">
                <a:latin typeface="Times New Roman"/>
              </a:rPr>
              <a:t>Captures COVID-19 lockdown impact on 2020 global emissions data</a:t>
            </a:r>
          </a:p>
        </p:txBody>
      </p:sp>
      <p:sp>
        <p:nvSpPr>
          <p:cNvPr id="4" name="Date Placeholder 3">
            <a:extLst>
              <a:ext uri="{FF2B5EF4-FFF2-40B4-BE49-F238E27FC236}">
                <a16:creationId xmlns:a16="http://schemas.microsoft.com/office/drawing/2014/main" id="{0C2C04C6-4B16-B040-442C-472054BC2D65}"/>
              </a:ext>
            </a:extLst>
          </p:cNvPr>
          <p:cNvSpPr>
            <a:spLocks noGrp="1"/>
          </p:cNvSpPr>
          <p:nvPr>
            <p:ph type="dt" idx="10"/>
          </p:nvPr>
        </p:nvSpPr>
        <p:spPr/>
        <p:txBody>
          <a:bodyPr/>
          <a:lstStyle/>
          <a:p>
            <a:r>
              <a:rPr lang="en-US"/>
              <a:t>1/20/2025</a:t>
            </a:r>
          </a:p>
        </p:txBody>
      </p:sp>
      <p:sp>
        <p:nvSpPr>
          <p:cNvPr id="5" name="Footer Placeholder 4">
            <a:extLst>
              <a:ext uri="{FF2B5EF4-FFF2-40B4-BE49-F238E27FC236}">
                <a16:creationId xmlns:a16="http://schemas.microsoft.com/office/drawing/2014/main" id="{D573A214-7598-F26F-E769-3A945BF3C612}"/>
              </a:ext>
            </a:extLst>
          </p:cNvPr>
          <p:cNvSpPr>
            <a:spLocks noGrp="1"/>
          </p:cNvSpPr>
          <p:nvPr>
            <p:ph type="ftr" idx="11"/>
          </p:nvPr>
        </p:nvSpPr>
        <p:spPr/>
        <p:txBody>
          <a:bodyPr/>
          <a:lstStyle/>
          <a:p>
            <a:r>
              <a:rPr lang="en-US"/>
              <a:t>Global CO2 Emissions Analysis (Data Analysis)</a:t>
            </a:r>
          </a:p>
        </p:txBody>
      </p:sp>
      <p:sp>
        <p:nvSpPr>
          <p:cNvPr id="6" name="Slide Number Placeholder 5">
            <a:extLst>
              <a:ext uri="{FF2B5EF4-FFF2-40B4-BE49-F238E27FC236}">
                <a16:creationId xmlns:a16="http://schemas.microsoft.com/office/drawing/2014/main" id="{A23A9916-84DA-BBA7-FED3-40BEC1DB8D4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a:p>
        </p:txBody>
      </p:sp>
    </p:spTree>
    <p:extLst>
      <p:ext uri="{BB962C8B-B14F-4D97-AF65-F5344CB8AC3E}">
        <p14:creationId xmlns:p14="http://schemas.microsoft.com/office/powerpoint/2010/main" val="1371210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latin typeface="Times New Roman"/>
                <a:ea typeface="Times New Roman"/>
                <a:cs typeface="Times New Roman"/>
                <a:sym typeface="Times New Roman"/>
              </a:rPr>
              <a:t>Final Output of Project</a:t>
            </a:r>
            <a:endParaRPr>
              <a:latin typeface="Times New Roman"/>
              <a:ea typeface="Times New Roman"/>
              <a:cs typeface="Times New Roman"/>
              <a:sym typeface="Times New Roman"/>
            </a:endParaRPr>
          </a:p>
        </p:txBody>
      </p:sp>
      <p:sp>
        <p:nvSpPr>
          <p:cNvPr id="140" name="Google Shape;140;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lnSpc>
                <a:spcPct val="100000"/>
              </a:lnSpc>
              <a:spcBef>
                <a:spcPts val="0"/>
              </a:spcBef>
              <a:spcAft>
                <a:spcPts val="0"/>
              </a:spcAft>
              <a:buClr>
                <a:schemeClr val="dk1"/>
              </a:buClr>
              <a:buSzPts val="3200"/>
              <a:buNone/>
            </a:pPr>
            <a:endParaRPr/>
          </a:p>
        </p:txBody>
      </p:sp>
      <p:pic>
        <p:nvPicPr>
          <p:cNvPr id="141" name="Google Shape;141;p6"/>
          <p:cNvPicPr preferRelativeResize="0"/>
          <p:nvPr/>
        </p:nvPicPr>
        <p:blipFill rotWithShape="1">
          <a:blip r:embed="rId3">
            <a:alphaModFix/>
          </a:blip>
          <a:srcRect/>
          <a:stretch/>
        </p:blipFill>
        <p:spPr>
          <a:xfrm>
            <a:off x="-1" y="0"/>
            <a:ext cx="940777" cy="931985"/>
          </a:xfrm>
          <a:prstGeom prst="rect">
            <a:avLst/>
          </a:prstGeom>
          <a:noFill/>
          <a:ln>
            <a:noFill/>
          </a:ln>
        </p:spPr>
      </p:pic>
      <p:sp>
        <p:nvSpPr>
          <p:cNvPr id="142" name="Google Shape;14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1/20/2025</a:t>
            </a:r>
            <a:endParaRPr/>
          </a:p>
        </p:txBody>
      </p:sp>
      <p:sp>
        <p:nvSpPr>
          <p:cNvPr id="143" name="Google Shape;14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a:t>
            </a:fld>
            <a:endParaRPr/>
          </a:p>
        </p:txBody>
      </p:sp>
      <p:sp>
        <p:nvSpPr>
          <p:cNvPr id="144" name="Google Shape;144;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Global CO2 Emissions Analysis (Data Analysis)</a:t>
            </a:r>
            <a:endParaRPr/>
          </a:p>
        </p:txBody>
      </p:sp>
      <p:pic>
        <p:nvPicPr>
          <p:cNvPr id="301" name="DashboardImg"/>
          <p:cNvPicPr preferRelativeResize="0"/>
          <p:nvPr/>
        </p:nvPicPr>
        <p:blipFill rotWithShape="1">
          <a:blip r:embed="rId4">
            <a:alphaModFix/>
          </a:blip>
          <a:srcRect/>
          <a:stretch/>
        </p:blipFill>
        <p:spPr>
          <a:xfrm>
            <a:off x="457200" y="1371600"/>
            <a:ext cx="8229600" cy="4800600"/>
          </a:xfrm>
          <a:prstGeom prst="rect">
            <a:avLst/>
          </a:prstGeom>
          <a:noFill/>
          <a:ln>
            <a:solidFill>
              <a:srgbClr val="2E75B6"/>
            </a:solidFill>
            <a:rou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dirty="0">
                <a:latin typeface="Times New Roman"/>
                <a:ea typeface="Times New Roman"/>
                <a:cs typeface="Times New Roman"/>
                <a:sym typeface="Times New Roman"/>
              </a:rPr>
              <a:t>Conclusion</a:t>
            </a:r>
            <a:endParaRPr dirty="0">
              <a:latin typeface="Times New Roman"/>
              <a:ea typeface="Times New Roman"/>
              <a:cs typeface="Times New Roman"/>
              <a:sym typeface="Times New Roman"/>
            </a:endParaRPr>
          </a:p>
        </p:txBody>
      </p:sp>
      <p:sp>
        <p:nvSpPr>
          <p:cNvPr id="150" name="Google Shape;150;p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p>
            <a:pPr marL="342900" lvl="0" indent="-139700" algn="l" rtl="0">
              <a:lnSpc>
                <a:spcPct val="115000"/>
              </a:lnSpc>
              <a:spcBef>
                <a:spcPts val="300"/>
              </a:spcBef>
              <a:spcAft>
                <a:spcPts val="100"/>
              </a:spcAft>
              <a:buNone/>
            </a:pPr>
            <a:r>
              <a:rPr lang="en-US" sz="1600" b="1" dirty="0">
                <a:solidFill>
                  <a:srgbClr val="1F4E79"/>
                </a:solidFill>
                <a:latin typeface="Times New Roman"/>
              </a:rPr>
              <a:t>Key Findings:</a:t>
            </a:r>
          </a:p>
          <a:p>
            <a:pPr marL="457200" lvl="1" indent="-228600" algn="l" rtl="0">
              <a:lnSpc>
                <a:spcPct val="115000"/>
              </a:lnSpc>
              <a:spcBef>
                <a:spcPts val="0"/>
              </a:spcBef>
              <a:spcAft>
                <a:spcPts val="100"/>
              </a:spcAft>
              <a:buChar char="●"/>
            </a:pPr>
            <a:r>
              <a:rPr lang="en-US" sz="1600" dirty="0">
                <a:latin typeface="Times New Roman"/>
              </a:rPr>
              <a:t>Qatar is the highest per-capita CO2 emitter at 31.73 Mt (2020)</a:t>
            </a:r>
          </a:p>
          <a:p>
            <a:pPr marL="457200" lvl="1" indent="-228600" algn="l" rtl="0">
              <a:lnSpc>
                <a:spcPct val="115000"/>
              </a:lnSpc>
              <a:spcBef>
                <a:spcPts val="0"/>
              </a:spcBef>
              <a:spcAft>
                <a:spcPts val="100"/>
              </a:spcAft>
              <a:buChar char="●"/>
            </a:pPr>
            <a:r>
              <a:rPr lang="en-US" sz="1600" dirty="0">
                <a:latin typeface="Times New Roman"/>
              </a:rPr>
              <a:t>Total global CO2 emissions in 2020 were 724 Mt, showing a COVID-19 dip vs 2018</a:t>
            </a:r>
          </a:p>
          <a:p>
            <a:pPr marL="457200" lvl="1" indent="-228600" algn="l" rtl="0">
              <a:lnSpc>
                <a:spcPct val="115000"/>
              </a:lnSpc>
              <a:spcBef>
                <a:spcPts val="0"/>
              </a:spcBef>
              <a:spcAft>
                <a:spcPts val="100"/>
              </a:spcAft>
              <a:buChar char="●"/>
            </a:pPr>
            <a:r>
              <a:rPr lang="en-US" sz="1600" dirty="0">
                <a:latin typeface="Times New Roman"/>
              </a:rPr>
              <a:t>Asia dominates emissions by continent at 38.9%, followed by Europe at 31.6%</a:t>
            </a:r>
          </a:p>
          <a:p>
            <a:pPr marL="457200" lvl="1" indent="-228600" algn="l" rtl="0">
              <a:lnSpc>
                <a:spcPct val="115000"/>
              </a:lnSpc>
              <a:spcBef>
                <a:spcPts val="0"/>
              </a:spcBef>
              <a:spcAft>
                <a:spcPts val="100"/>
              </a:spcAft>
              <a:buChar char="●"/>
            </a:pPr>
            <a:r>
              <a:rPr lang="en-US" sz="1600" dirty="0">
                <a:latin typeface="Times New Roman"/>
              </a:rPr>
              <a:t>High Income nations account for 421.2 Mt - the largest share by income group</a:t>
            </a:r>
          </a:p>
          <a:p>
            <a:pPr marL="457200" lvl="1" indent="-228600" algn="l" rtl="0">
              <a:lnSpc>
                <a:spcPct val="115000"/>
              </a:lnSpc>
              <a:spcBef>
                <a:spcPts val="0"/>
              </a:spcBef>
              <a:spcAft>
                <a:spcPts val="100"/>
              </a:spcAft>
              <a:buChar char="●"/>
            </a:pPr>
            <a:r>
              <a:rPr lang="en-US" sz="1600" dirty="0">
                <a:latin typeface="Times New Roman"/>
              </a:rPr>
              <a:t>Middle Eastern countries dominate the Top 10 highest emitters list</a:t>
            </a:r>
          </a:p>
          <a:p>
            <a:pPr marL="342900" lvl="0" indent="-139700" algn="l" rtl="0">
              <a:lnSpc>
                <a:spcPct val="115000"/>
              </a:lnSpc>
              <a:spcBef>
                <a:spcPts val="300"/>
              </a:spcBef>
              <a:spcAft>
                <a:spcPts val="100"/>
              </a:spcAft>
              <a:buNone/>
            </a:pPr>
            <a:r>
              <a:rPr lang="en-US" sz="1600" b="1" dirty="0">
                <a:solidFill>
                  <a:srgbClr val="7030A0"/>
                </a:solidFill>
                <a:latin typeface="Times New Roman"/>
              </a:rPr>
              <a:t>Future Scope:</a:t>
            </a:r>
          </a:p>
          <a:p>
            <a:pPr marL="457200" lvl="1" indent="-228600" algn="l" rtl="0">
              <a:lnSpc>
                <a:spcPct val="115000"/>
              </a:lnSpc>
              <a:spcBef>
                <a:spcPts val="0"/>
              </a:spcBef>
              <a:spcAft>
                <a:spcPts val="100"/>
              </a:spcAft>
              <a:buChar char="●"/>
            </a:pPr>
            <a:r>
              <a:rPr lang="en-US" sz="1600" dirty="0">
                <a:latin typeface="Times New Roman"/>
              </a:rPr>
              <a:t>Live API Integration: Replace static CSV with World Bank or Our World in Data APIs</a:t>
            </a:r>
          </a:p>
          <a:p>
            <a:pPr marL="457200" lvl="1" indent="-228600" algn="l" rtl="0">
              <a:lnSpc>
                <a:spcPct val="115000"/>
              </a:lnSpc>
              <a:spcBef>
                <a:spcPts val="0"/>
              </a:spcBef>
              <a:spcAft>
                <a:spcPts val="100"/>
              </a:spcAft>
              <a:buChar char="●"/>
            </a:pPr>
            <a:r>
              <a:rPr lang="en-US" sz="1600" dirty="0">
                <a:latin typeface="Times New Roman"/>
              </a:rPr>
              <a:t>ML Predictive Analytics: Use Scikit-Learn to forecast emissions for the next decade</a:t>
            </a:r>
          </a:p>
          <a:p>
            <a:pPr marL="457200" lvl="1" indent="-228600" algn="l" rtl="0">
              <a:lnSpc>
                <a:spcPct val="115000"/>
              </a:lnSpc>
              <a:spcBef>
                <a:spcPts val="0"/>
              </a:spcBef>
              <a:spcAft>
                <a:spcPts val="100"/>
              </a:spcAft>
              <a:buChar char="●"/>
            </a:pPr>
            <a:r>
              <a:rPr lang="en-US" sz="1600" dirty="0">
                <a:latin typeface="Times New Roman"/>
              </a:rPr>
              <a:t>Geographical Choropleth Mapping: 3D interactive world maps with emission intensity gradients</a:t>
            </a:r>
          </a:p>
          <a:p>
            <a:pPr marL="457200" lvl="1" indent="-228600" algn="l" rtl="0">
              <a:lnSpc>
                <a:spcPct val="115000"/>
              </a:lnSpc>
              <a:spcBef>
                <a:spcPts val="0"/>
              </a:spcBef>
              <a:spcAft>
                <a:spcPts val="100"/>
              </a:spcAft>
              <a:buChar char="●"/>
            </a:pPr>
            <a:r>
              <a:rPr lang="en-US" sz="1600" dirty="0">
                <a:latin typeface="Times New Roman"/>
              </a:rPr>
              <a:t>Granular Industrial Sector Breakdown: Isolate energy, transport, agriculture, and data centres</a:t>
            </a:r>
          </a:p>
        </p:txBody>
      </p:sp>
      <p:pic>
        <p:nvPicPr>
          <p:cNvPr id="151" name="Google Shape;151;p7"/>
          <p:cNvPicPr preferRelativeResize="0"/>
          <p:nvPr/>
        </p:nvPicPr>
        <p:blipFill rotWithShape="1">
          <a:blip r:embed="rId3">
            <a:alphaModFix/>
          </a:blip>
          <a:srcRect/>
          <a:stretch/>
        </p:blipFill>
        <p:spPr>
          <a:xfrm>
            <a:off x="0" y="0"/>
            <a:ext cx="940777" cy="931985"/>
          </a:xfrm>
          <a:prstGeom prst="rect">
            <a:avLst/>
          </a:prstGeom>
          <a:noFill/>
          <a:ln>
            <a:noFill/>
          </a:ln>
        </p:spPr>
      </p:pic>
      <p:sp>
        <p:nvSpPr>
          <p:cNvPr id="152" name="Google Shape;152;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1/20/2025</a:t>
            </a:r>
            <a:endParaRPr/>
          </a:p>
        </p:txBody>
      </p:sp>
      <p:sp>
        <p:nvSpPr>
          <p:cNvPr id="153" name="Google Shape;153;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a:t>
            </a:fld>
            <a:endParaRPr/>
          </a:p>
        </p:txBody>
      </p:sp>
      <p:sp>
        <p:nvSpPr>
          <p:cNvPr id="154" name="Google Shape;154;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Global CO2 Emissions Analysis (Data Analysis)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pic>
        <p:nvPicPr>
          <p:cNvPr id="159" name="Google Shape;159;p8"/>
          <p:cNvPicPr preferRelativeResize="0"/>
          <p:nvPr/>
        </p:nvPicPr>
        <p:blipFill rotWithShape="1">
          <a:blip r:embed="rId3">
            <a:alphaModFix/>
          </a:blip>
          <a:srcRect/>
          <a:stretch/>
        </p:blipFill>
        <p:spPr>
          <a:xfrm>
            <a:off x="0" y="0"/>
            <a:ext cx="940777" cy="931985"/>
          </a:xfrm>
          <a:prstGeom prst="rect">
            <a:avLst/>
          </a:prstGeom>
          <a:noFill/>
          <a:ln>
            <a:noFill/>
          </a:ln>
        </p:spPr>
      </p:pic>
      <p:sp>
        <p:nvSpPr>
          <p:cNvPr id="160" name="Google Shape;160;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1/20/2025</a:t>
            </a:r>
            <a:endParaRPr/>
          </a:p>
        </p:txBody>
      </p:sp>
      <p:sp>
        <p:nvSpPr>
          <p:cNvPr id="161" name="Google Shape;161;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a:t>
            </a:fld>
            <a:endParaRPr/>
          </a:p>
        </p:txBody>
      </p:sp>
      <p:sp>
        <p:nvSpPr>
          <p:cNvPr id="162" name="Google Shape;16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Global CO2 Emissions Analysis (Data Analysis)</a:t>
            </a:r>
            <a:endParaRPr/>
          </a:p>
        </p:txBody>
      </p:sp>
      <p:sp>
        <p:nvSpPr>
          <p:cNvPr id="163" name="Google Shape;163;p8"/>
          <p:cNvSpPr/>
          <p:nvPr/>
        </p:nvSpPr>
        <p:spPr>
          <a:xfrm>
            <a:off x="2536829" y="2967335"/>
            <a:ext cx="4070346"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5400" b="1" i="0" u="none" strike="noStrike" cap="none">
                <a:solidFill>
                  <a:srgbClr val="6197ED"/>
                </a:solidFill>
                <a:latin typeface="Arial"/>
                <a:ea typeface="Arial"/>
                <a:cs typeface="Arial"/>
                <a:sym typeface="Arial"/>
              </a:rPr>
              <a:t>Thank You</a:t>
            </a:r>
            <a:endParaRPr sz="5400" b="1" i="0" u="none" strike="noStrike" cap="none">
              <a:solidFill>
                <a:srgbClr val="6197ED"/>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TotalTime>
  <Words>630</Words>
  <Application>Microsoft Office PowerPoint</Application>
  <PresentationFormat>On-screen Show (4:3)</PresentationFormat>
  <Paragraphs>97</Paragraphs>
  <Slides>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Times New Roman</vt:lpstr>
      <vt:lpstr>Office Theme</vt:lpstr>
      <vt:lpstr>Global CO₂ Emissions Analysis</vt:lpstr>
      <vt:lpstr>Abstract </vt:lpstr>
      <vt:lpstr>Flow Of Program</vt:lpstr>
      <vt:lpstr>Features of your Project</vt:lpstr>
      <vt:lpstr>Final Output of Project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Swayam</dc:creator>
  <cp:lastModifiedBy>Swayam Chhatre</cp:lastModifiedBy>
  <cp:revision>4</cp:revision>
  <dcterms:modified xsi:type="dcterms:W3CDTF">2026-05-26T22:07:37Z</dcterms:modified>
</cp:coreProperties>
</file>